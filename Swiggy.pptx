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9B3B-9DE1-2BE4-8081-4D9E3F24C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2B9F3-65F0-E107-F504-9BB7222AC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FC62B-BB5D-C991-AEC2-BA3BD9E3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35E39-3C52-D740-0D6A-13A51EAF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AC57-E154-7009-37A1-6F833B2C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56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261B-6B01-3243-2DAC-69E2E902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2CA7-49A0-AD77-2015-0464F3B62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B4103-CB8C-E3CE-5B7C-7C1D930D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8843C-FB96-E79A-B0F1-9AE08598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6BB35-0094-90E5-6E7C-9F9C9618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44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A28F-1CC7-F5F4-2051-DFE0C653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B5EFD-4EC8-C7C6-77D0-F9778AEB1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5E287-2E49-5F29-068E-937C0CC4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9C78D-8629-8532-854F-5122E338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44889-11B6-491E-4FE7-994492F0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27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2E12-FEC5-A157-AA69-BF9C0F04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A9E3-2BDE-19A2-25F2-912F95251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2A5B2-4D68-9E3F-9AD6-442C1B1E1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43EFF-3954-B381-A9FD-97354136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2ABB6-E1DA-4A8F-5873-B1F61B74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F6F49-2AB2-8496-A04C-0A6AF9DC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30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F00E-F797-06CD-56D8-53696AF9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9D005-09F1-9E61-E633-904072A49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6CE21-23D0-9DCD-5F84-0B134EBA3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41D65-BCFB-E89F-D0D1-43837F1DA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BCDE2-E0B2-313A-6BF3-621D74811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54012E-436D-C1F9-4E38-9C3A9205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E822B7-B1F1-4C4B-7FCA-8864289A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7BADD1-B35E-57C0-BA03-91E4CBC1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54A7-B116-2FB1-F71E-8B9D4E10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FE676-5CFC-D74E-6000-0094470A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B70BD-B771-5DB5-F30B-8A28BFE3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DD7F2-67AD-9A15-8F0C-B510713B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938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51178E-A225-6AD4-125B-8089FAE3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C02B8-A2DF-801D-9313-A8AB711B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9A800-5162-B071-09CC-83DD6CB2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62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51B6-2856-4B93-BF7A-9958806B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18551-B8B8-BDFF-CDA8-7E64AE205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D21C8-CA1A-1C76-929D-BD39242C4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5CA2B-C20B-A793-D4B9-4BB17480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C47A8-3DC6-8DAB-859C-B445C4F4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F7F49-93D8-8638-7ACE-AA665AED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5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F696-14CE-73A3-123A-540E8808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1DF77-02FA-BD24-9C69-2B1B03D81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32577-E13C-81C8-4735-0439C61D8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405F2-6CB9-1E16-2FDC-AF6EE3FC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E2A1E-551B-DBA2-0FD9-A824D656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A1B68-999B-AAB4-2574-03DFAB4C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42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1B93-DD6E-AC9D-6508-87E61CD0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CED1C-DCF8-3AAB-12EA-081DEF3CE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9C231-88A2-ED03-1DD4-88896273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03C5D-90D4-ED93-EDC4-DCA9E72C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3CD7F-4B8C-3532-6B6E-D653F54F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61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50111-7E61-2335-2547-AC655C9C2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498B9-6883-4E27-C5D7-2158BE676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9BCA4-0868-E6C8-327D-5EA404E4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0507A-ABAE-FA0B-B244-933522A7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5D615-2268-8D0E-ECD0-DD9A7FAF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93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9B8A8-D7CC-04CE-FD47-1FC60DA3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3B646-AF5D-9E49-E902-4BF81807A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EA4CA-DBDC-285F-9200-6C889759C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CB03-425A-4680-94EB-C83125AE36E1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2BDA-291E-2FFA-AFBB-CC3A96281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4C175-E6F9-C9DB-CC1D-DB60952E2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4C5-2B82-403A-A3F2-CDD3B94280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95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8E721B-CEF7-FBC2-EB8D-D54058400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744F-B64F-4B5C-9652-B141B06F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📌 Overview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9B6F5-48F3-1FBC-0AE1-70C1AEDC6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performs a comprehensive </a:t>
            </a:r>
            <a:r>
              <a:rPr lang="en-US" b="1" dirty="0"/>
              <a:t>Exploratory Data Analysis (EDA)</a:t>
            </a:r>
            <a:r>
              <a:rPr lang="en-US" dirty="0"/>
              <a:t> on a dataset derived from </a:t>
            </a:r>
            <a:r>
              <a:rPr lang="en-US" b="1" dirty="0"/>
              <a:t>Swiggy</a:t>
            </a:r>
            <a:r>
              <a:rPr lang="en-US" dirty="0"/>
              <a:t>, one of India’s largest online food delivery platforms. The goal is to uncover insights into restaurant performance, delivery trends, customer ratings, and city/area-based behaviors to guide business decisions and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439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ACC1-E490-3B07-3C88-2E6E10FF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🔍 Key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E7F00-5069-4035-A599-722A1AB93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restaurant performance by city and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Explore distribution of food prices, delivery times, and average ratings.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top-performing and underperforming areas and restaurants.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Visualize trends and outliers using histograms, scatter plots, KDEs, and bar charts.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delivery times and ratings across cities and restaurant types.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21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EC062A-6B73-5D6D-1567-160DF6E2B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0"/>
            <a:ext cx="12192001" cy="4953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538783-5AF0-EC91-84C4-DCB204F4EDB7}"/>
              </a:ext>
            </a:extLst>
          </p:cNvPr>
          <p:cNvSpPr txBox="1"/>
          <p:nvPr/>
        </p:nvSpPr>
        <p:spPr>
          <a:xfrm>
            <a:off x="1197429" y="493264"/>
            <a:ext cx="10428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7"/>
              </a:spcBef>
              <a:spcAft>
                <a:spcPts val="605"/>
              </a:spcAft>
            </a:pPr>
            <a:r>
              <a:rPr lang="en-US" sz="2800" b="1" i="0" dirty="0">
                <a:effectLst/>
                <a:latin typeface="system-ui"/>
              </a:rPr>
              <a:t>Maximum number of restaurants is in Kolkata followed by Mumbai</a:t>
            </a:r>
          </a:p>
        </p:txBody>
      </p:sp>
    </p:spTree>
    <p:extLst>
      <p:ext uri="{BB962C8B-B14F-4D97-AF65-F5344CB8AC3E}">
        <p14:creationId xmlns:p14="http://schemas.microsoft.com/office/powerpoint/2010/main" val="365240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A114C8-5E75-2A91-FBAB-DA7D6741A1DC}"/>
              </a:ext>
            </a:extLst>
          </p:cNvPr>
          <p:cNvSpPr txBox="1"/>
          <p:nvPr/>
        </p:nvSpPr>
        <p:spPr>
          <a:xfrm>
            <a:off x="892629" y="5229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6"/>
              </a:spcBef>
              <a:spcAft>
                <a:spcPts val="504"/>
              </a:spcAft>
            </a:pPr>
            <a:r>
              <a:rPr lang="en-US" sz="2800" b="1" i="0" dirty="0">
                <a:effectLst/>
                <a:latin typeface="system-ui"/>
              </a:rPr>
              <a:t>Top 10 Areas having highest rating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9E983-6207-2B86-0A67-939D5B622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7" y="1960210"/>
            <a:ext cx="11955543" cy="462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1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E1C6ED-1515-CBCD-48AA-270B0B4E0F3E}"/>
              </a:ext>
            </a:extLst>
          </p:cNvPr>
          <p:cNvSpPr txBox="1"/>
          <p:nvPr/>
        </p:nvSpPr>
        <p:spPr>
          <a:xfrm>
            <a:off x="892629" y="5229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6"/>
              </a:spcBef>
              <a:spcAft>
                <a:spcPts val="504"/>
              </a:spcAft>
            </a:pPr>
            <a:r>
              <a:rPr lang="en-US" sz="2800" b="1" dirty="0">
                <a:latin typeface="system-ui"/>
              </a:rPr>
              <a:t>Bottom</a:t>
            </a:r>
            <a:r>
              <a:rPr lang="en-US" sz="2800" b="1" i="0" dirty="0">
                <a:effectLst/>
                <a:latin typeface="system-ui"/>
              </a:rPr>
              <a:t> 10 Areas having lowest rating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5C849-F7D6-0303-80F8-66AE30090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2343"/>
            <a:ext cx="12192000" cy="480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5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FB228A-EF5B-86F5-2913-015898297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371" y="1611087"/>
            <a:ext cx="10036629" cy="5040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552FB4-0BEB-1720-DD24-CFD00E93EA83}"/>
              </a:ext>
            </a:extLst>
          </p:cNvPr>
          <p:cNvSpPr txBox="1"/>
          <p:nvPr/>
        </p:nvSpPr>
        <p:spPr>
          <a:xfrm>
            <a:off x="1192047" y="420030"/>
            <a:ext cx="82132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6"/>
              </a:spcBef>
              <a:spcAft>
                <a:spcPts val="504"/>
              </a:spcAft>
            </a:pPr>
            <a:r>
              <a:rPr lang="en-US" sz="2800" b="1" i="0" dirty="0">
                <a:effectLst/>
                <a:latin typeface="system-ui"/>
              </a:rPr>
              <a:t>Most frequent ordered prices are 300 and 200.</a:t>
            </a:r>
          </a:p>
        </p:txBody>
      </p:sp>
    </p:spTree>
    <p:extLst>
      <p:ext uri="{BB962C8B-B14F-4D97-AF65-F5344CB8AC3E}">
        <p14:creationId xmlns:p14="http://schemas.microsoft.com/office/powerpoint/2010/main" val="86817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CB17C9-CBC2-311C-1AED-CCAF6B64E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770" y="1608992"/>
            <a:ext cx="8792802" cy="5249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27E802-5BEE-CD81-8011-86C63CF2CC7C}"/>
              </a:ext>
            </a:extLst>
          </p:cNvPr>
          <p:cNvSpPr txBox="1"/>
          <p:nvPr/>
        </p:nvSpPr>
        <p:spPr>
          <a:xfrm>
            <a:off x="664029" y="221433"/>
            <a:ext cx="10863941" cy="2003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6"/>
              </a:spcBef>
              <a:spcAft>
                <a:spcPts val="504"/>
              </a:spcAft>
              <a:buNone/>
            </a:pPr>
            <a:r>
              <a:rPr lang="en-US" sz="2400" b="1" i="0" dirty="0">
                <a:effectLst/>
                <a:latin typeface="system-ui"/>
              </a:rPr>
              <a:t>Indian Food Type was ordered most followed by Chinese having significant difference. Lease ordered Food </a:t>
            </a:r>
            <a:r>
              <a:rPr lang="en-US" sz="2400" b="1" dirty="0">
                <a:latin typeface="system-ui"/>
              </a:rPr>
              <a:t>T</a:t>
            </a:r>
            <a:r>
              <a:rPr lang="en-US" sz="2400" b="1" i="0" dirty="0">
                <a:effectLst/>
                <a:latin typeface="system-ui"/>
              </a:rPr>
              <a:t>ype is beverages. Top 5 are Indian &gt; Chinese &gt; North Indian &gt; Fast Food &gt; South Indian</a:t>
            </a:r>
            <a:endParaRPr lang="en-US" sz="2400" b="1" dirty="0">
              <a:solidFill>
                <a:srgbClr val="616161"/>
              </a:solidFill>
              <a:effectLst/>
              <a:latin typeface="menlo"/>
            </a:endParaRPr>
          </a:p>
          <a:p>
            <a:pPr>
              <a:buNone/>
            </a:pPr>
            <a:br>
              <a:rPr lang="en-US" sz="2400" b="1" i="0" dirty="0">
                <a:effectLst/>
                <a:latin typeface="menlo"/>
              </a:rPr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15701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BEC5A-8E65-B15A-7D3C-C10DEADAC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43" y="1970314"/>
            <a:ext cx="10123713" cy="480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CF02F8-BE4C-7A73-7098-81764A4CBA0B}"/>
              </a:ext>
            </a:extLst>
          </p:cNvPr>
          <p:cNvSpPr txBox="1"/>
          <p:nvPr/>
        </p:nvSpPr>
        <p:spPr>
          <a:xfrm>
            <a:off x="1262742" y="259631"/>
            <a:ext cx="8022771" cy="170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6"/>
              </a:spcBef>
              <a:spcAft>
                <a:spcPts val="504"/>
              </a:spcAft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-ui"/>
              </a:rPr>
              <a:t>Scatterplot between </a:t>
            </a:r>
            <a:r>
              <a:rPr lang="en-US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-ui"/>
              </a:rPr>
              <a:t>Avg_ratings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-ui"/>
              </a:rPr>
              <a:t> and Price:</a:t>
            </a:r>
          </a:p>
          <a:p>
            <a:pPr>
              <a:spcBef>
                <a:spcPts val="756"/>
              </a:spcBef>
              <a:spcAft>
                <a:spcPts val="504"/>
              </a:spcAft>
            </a:pPr>
            <a:r>
              <a:rPr lang="en-US" b="1" dirty="0">
                <a:latin typeface="system-ui"/>
              </a:rPr>
              <a:t>Most dots are concentrated between:</a:t>
            </a:r>
          </a:p>
          <a:p>
            <a:pPr>
              <a:spcBef>
                <a:spcPts val="756"/>
              </a:spcBef>
              <a:spcAft>
                <a:spcPts val="504"/>
              </a:spcAft>
            </a:pPr>
            <a:r>
              <a:rPr lang="en-US" b="1" dirty="0">
                <a:latin typeface="system-ui"/>
              </a:rPr>
              <a:t>Price: ₹100 to ₹500</a:t>
            </a:r>
          </a:p>
          <a:p>
            <a:pPr>
              <a:spcBef>
                <a:spcPts val="756"/>
              </a:spcBef>
              <a:spcAft>
                <a:spcPts val="504"/>
              </a:spcAft>
            </a:pPr>
            <a:r>
              <a:rPr lang="en-US" b="1" dirty="0">
                <a:latin typeface="system-ui"/>
              </a:rPr>
              <a:t>Avg ratings: 3.5 to 4.5</a:t>
            </a:r>
          </a:p>
        </p:txBody>
      </p:sp>
    </p:spTree>
    <p:extLst>
      <p:ext uri="{BB962C8B-B14F-4D97-AF65-F5344CB8AC3E}">
        <p14:creationId xmlns:p14="http://schemas.microsoft.com/office/powerpoint/2010/main" val="3633262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ECE214-5A8C-9B0B-068F-0F999940F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467" y="1306286"/>
            <a:ext cx="9541962" cy="53122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3C563-A2C9-3442-B41C-158568A14E3D}"/>
              </a:ext>
            </a:extLst>
          </p:cNvPr>
          <p:cNvSpPr txBox="1"/>
          <p:nvPr/>
        </p:nvSpPr>
        <p:spPr>
          <a:xfrm>
            <a:off x="1371600" y="3596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6"/>
              </a:spcBef>
              <a:spcAft>
                <a:spcPts val="504"/>
              </a:spcAft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-ui"/>
              </a:rPr>
              <a:t>Scatterplot between </a:t>
            </a:r>
            <a:r>
              <a:rPr lang="en-US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-ui"/>
              </a:rPr>
              <a:t>Avg_ratings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stem-ui"/>
              </a:rPr>
              <a:t> and Price taking City as hue:</a:t>
            </a:r>
          </a:p>
        </p:txBody>
      </p:sp>
    </p:spTree>
    <p:extLst>
      <p:ext uri="{BB962C8B-B14F-4D97-AF65-F5344CB8AC3E}">
        <p14:creationId xmlns:p14="http://schemas.microsoft.com/office/powerpoint/2010/main" val="3789331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A2C832-D5DD-5D4D-B135-128EC6175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38" y="2144486"/>
            <a:ext cx="10336067" cy="4713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F27A60-673B-2E53-4FB2-394DC39A4EB8}"/>
              </a:ext>
            </a:extLst>
          </p:cNvPr>
          <p:cNvSpPr txBox="1"/>
          <p:nvPr/>
        </p:nvSpPr>
        <p:spPr>
          <a:xfrm>
            <a:off x="1175656" y="0"/>
            <a:ext cx="10548257" cy="20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756"/>
              </a:spcBef>
              <a:spcAft>
                <a:spcPts val="504"/>
              </a:spcAft>
              <a:buFont typeface="+mj-lt"/>
              <a:buAutoNum type="arabicPeriod"/>
            </a:pPr>
            <a:r>
              <a:rPr lang="en-US" b="1" dirty="0">
                <a:latin typeface="system-ui"/>
              </a:rPr>
              <a:t>The upward slope of the line suggests a slight positive correlation: as price increases, ratings tend to increase a little.</a:t>
            </a:r>
          </a:p>
          <a:p>
            <a:pPr marL="342900" indent="-342900">
              <a:spcBef>
                <a:spcPts val="756"/>
              </a:spcBef>
              <a:spcAft>
                <a:spcPts val="504"/>
              </a:spcAft>
              <a:buFont typeface="+mj-lt"/>
              <a:buAutoNum type="arabicPeriod"/>
            </a:pPr>
            <a:r>
              <a:rPr lang="en-US" b="1" dirty="0">
                <a:latin typeface="system-ui"/>
              </a:rPr>
              <a:t>However, the spread of the dots around the line shows lots of variability, meaning price is not a strong predictor of rating.</a:t>
            </a:r>
          </a:p>
          <a:p>
            <a:pPr marL="342900" indent="-342900">
              <a:spcBef>
                <a:spcPts val="756"/>
              </a:spcBef>
              <a:spcAft>
                <a:spcPts val="504"/>
              </a:spcAft>
              <a:buFont typeface="+mj-lt"/>
              <a:buAutoNum type="arabicPeriod"/>
            </a:pPr>
            <a:r>
              <a:rPr lang="en-US" b="1" dirty="0">
                <a:latin typeface="system-ui"/>
              </a:rPr>
              <a:t>The shaded area is the confidence interval, showing uncertainty around the trend. A wider band = less confidence.</a:t>
            </a:r>
          </a:p>
        </p:txBody>
      </p:sp>
    </p:spTree>
    <p:extLst>
      <p:ext uri="{BB962C8B-B14F-4D97-AF65-F5344CB8AC3E}">
        <p14:creationId xmlns:p14="http://schemas.microsoft.com/office/powerpoint/2010/main" val="209282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4767B-B2E8-288B-3C46-345F38FA4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930" y="1894114"/>
            <a:ext cx="9602540" cy="49638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71BD42-6286-9824-6A87-CF7AC7BA8314}"/>
              </a:ext>
            </a:extLst>
          </p:cNvPr>
          <p:cNvSpPr txBox="1"/>
          <p:nvPr/>
        </p:nvSpPr>
        <p:spPr>
          <a:xfrm>
            <a:off x="1370930" y="611761"/>
            <a:ext cx="91555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6"/>
              </a:spcBef>
              <a:spcAft>
                <a:spcPts val="504"/>
              </a:spcAft>
              <a:buNone/>
            </a:pPr>
            <a:r>
              <a:rPr lang="en-US" sz="2400" b="1" i="0" dirty="0">
                <a:effectLst/>
                <a:latin typeface="system-ui"/>
              </a:rPr>
              <a:t>Below graph shows that maximum food items have their price around 200 to 300.</a:t>
            </a:r>
          </a:p>
        </p:txBody>
      </p:sp>
    </p:spTree>
    <p:extLst>
      <p:ext uri="{BB962C8B-B14F-4D97-AF65-F5344CB8AC3E}">
        <p14:creationId xmlns:p14="http://schemas.microsoft.com/office/powerpoint/2010/main" val="274111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41465-B218-861E-B600-918E1EF87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14" y="2667000"/>
            <a:ext cx="11244943" cy="40712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F75BD7-E1DC-2E00-CC7B-841263626C4B}"/>
              </a:ext>
            </a:extLst>
          </p:cNvPr>
          <p:cNvSpPr txBox="1"/>
          <p:nvPr/>
        </p:nvSpPr>
        <p:spPr>
          <a:xfrm>
            <a:off x="1088571" y="174171"/>
            <a:ext cx="10755085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907"/>
              </a:spcBef>
              <a:spcAft>
                <a:spcPts val="1210"/>
              </a:spcAft>
              <a:buAutoNum type="arabicPeriod"/>
            </a:pPr>
            <a:r>
              <a:rPr lang="en-US" b="1" i="0" dirty="0">
                <a:effectLst/>
                <a:latin typeface="system-ui"/>
              </a:rPr>
              <a:t>Most Common Delivery Time (Mode) : </a:t>
            </a:r>
            <a:r>
              <a:rPr lang="en-IN" b="1" i="0" dirty="0">
                <a:effectLst/>
                <a:latin typeface="system-ui"/>
              </a:rPr>
              <a:t>45 minutes.</a:t>
            </a:r>
          </a:p>
          <a:p>
            <a:pPr marL="342900" indent="-342900" algn="l">
              <a:spcBef>
                <a:spcPts val="907"/>
              </a:spcBef>
              <a:spcAft>
                <a:spcPts val="1210"/>
              </a:spcAft>
              <a:buAutoNum type="arabicPeriod"/>
            </a:pPr>
            <a:r>
              <a:rPr lang="en-US" b="1" i="0" dirty="0">
                <a:effectLst/>
                <a:latin typeface="system-ui"/>
              </a:rPr>
              <a:t>The KDE shows a right-skewed distribution (longer tail on the right).</a:t>
            </a:r>
            <a:r>
              <a:rPr lang="en-IN" b="1" dirty="0">
                <a:latin typeface="system-ui"/>
              </a:rPr>
              <a:t> </a:t>
            </a:r>
            <a:r>
              <a:rPr lang="en-US" b="1" i="0" dirty="0">
                <a:effectLst/>
                <a:latin typeface="system-ui"/>
              </a:rPr>
              <a:t>Most deliveries happen in 35–60 minutes, but some take longer, up to 100+ minutes.</a:t>
            </a:r>
          </a:p>
          <a:p>
            <a:pPr marL="342900" indent="-342900">
              <a:spcBef>
                <a:spcPts val="907"/>
              </a:spcBef>
              <a:spcAft>
                <a:spcPts val="1210"/>
              </a:spcAft>
              <a:buFontTx/>
              <a:buAutoNum type="arabicPeriod"/>
            </a:pPr>
            <a:r>
              <a:rPr lang="en-IN" b="1" i="0" dirty="0">
                <a:effectLst/>
                <a:latin typeface="system-ui"/>
              </a:rPr>
              <a:t>Multi-modality (Two Peaks): </a:t>
            </a:r>
            <a:r>
              <a:rPr lang="en-US" b="1" i="0" dirty="0">
                <a:effectLst/>
                <a:latin typeface="system-ui"/>
              </a:rPr>
              <a:t>The KDE line has two visible humps (peaks) — one around 35–40 mins and another around 45–50 mins. Two types of delivery patterns (e.g., quick-service vs full-service restaurants).</a:t>
            </a:r>
          </a:p>
        </p:txBody>
      </p:sp>
    </p:spTree>
    <p:extLst>
      <p:ext uri="{BB962C8B-B14F-4D97-AF65-F5344CB8AC3E}">
        <p14:creationId xmlns:p14="http://schemas.microsoft.com/office/powerpoint/2010/main" val="2057516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DEA95-36EF-BC59-D312-55E43C81C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43" y="2122714"/>
            <a:ext cx="10199914" cy="4735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9CC183-3B92-7C53-E344-B36C4622972D}"/>
              </a:ext>
            </a:extLst>
          </p:cNvPr>
          <p:cNvSpPr txBox="1"/>
          <p:nvPr/>
        </p:nvSpPr>
        <p:spPr>
          <a:xfrm>
            <a:off x="1632856" y="336008"/>
            <a:ext cx="73587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sz="2000" b="1" i="0" dirty="0">
                <a:effectLst/>
                <a:latin typeface="system-ui"/>
              </a:rPr>
              <a:t>Majority deliveries 35–55 mins across cities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000" b="1" i="0" dirty="0">
                <a:effectLst/>
                <a:latin typeface="system-ui"/>
              </a:rPr>
              <a:t>Mumbai &amp; Hyderabad Fastest &amp; most consistent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000" b="1" i="0" dirty="0">
                <a:effectLst/>
                <a:latin typeface="system-ui"/>
              </a:rPr>
              <a:t>Kolkata Longest delivery tails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000" b="1" i="0" dirty="0">
                <a:effectLst/>
                <a:latin typeface="system-ui"/>
              </a:rPr>
              <a:t>Surat &amp; Ahmedabad Tend to deliver faster</a:t>
            </a:r>
          </a:p>
        </p:txBody>
      </p:sp>
    </p:spTree>
    <p:extLst>
      <p:ext uri="{BB962C8B-B14F-4D97-AF65-F5344CB8AC3E}">
        <p14:creationId xmlns:p14="http://schemas.microsoft.com/office/powerpoint/2010/main" val="3442604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EA573F-D950-A92B-C31C-1735E9EAB145}"/>
              </a:ext>
            </a:extLst>
          </p:cNvPr>
          <p:cNvSpPr txBox="1"/>
          <p:nvPr/>
        </p:nvSpPr>
        <p:spPr>
          <a:xfrm>
            <a:off x="783772" y="407660"/>
            <a:ext cx="11190514" cy="6181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n-IN" sz="2400" b="1" i="0" dirty="0">
                <a:effectLst/>
                <a:latin typeface="system-ui"/>
              </a:rPr>
              <a:t>Observations:</a:t>
            </a:r>
          </a:p>
          <a:p>
            <a:pPr marL="342900" indent="-342900" algn="l">
              <a:spcBef>
                <a:spcPts val="1512"/>
              </a:spcBef>
              <a:spcAft>
                <a:spcPts val="1008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system-ui"/>
              </a:rPr>
              <a:t>Maximum number of restaurants is in Kolkata followed by Mumbai</a:t>
            </a:r>
          </a:p>
          <a:p>
            <a:pPr marL="342900" indent="-342900" algn="l">
              <a:spcBef>
                <a:spcPts val="1512"/>
              </a:spcBef>
              <a:spcAft>
                <a:spcPts val="1008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system-ui"/>
              </a:rPr>
              <a:t>Top 5 restaurants having highest rating: </a:t>
            </a:r>
          </a:p>
          <a:p>
            <a:pPr algn="l">
              <a:spcBef>
                <a:spcPts val="1512"/>
              </a:spcBef>
              <a:spcAft>
                <a:spcPts val="1008"/>
              </a:spcAft>
            </a:pPr>
            <a:r>
              <a:rPr lang="en-IN" sz="2000" b="0" i="0" dirty="0">
                <a:effectLst/>
                <a:latin typeface="system-ui"/>
              </a:rPr>
              <a:t>       La </a:t>
            </a:r>
            <a:r>
              <a:rPr lang="en-IN" sz="2000" b="0" i="0" dirty="0" err="1">
                <a:effectLst/>
                <a:latin typeface="system-ui"/>
              </a:rPr>
              <a:t>Pino'Z</a:t>
            </a:r>
            <a:r>
              <a:rPr lang="en-IN" sz="2000" b="0" i="0" dirty="0">
                <a:effectLst/>
                <a:latin typeface="system-ui"/>
              </a:rPr>
              <a:t> Pizza &gt; Nic Natural Ice Creams &gt; Baskin Robbins &gt; Subway &gt; </a:t>
            </a:r>
            <a:r>
              <a:rPr lang="en-IN" sz="2000" b="0" i="0" dirty="0" err="1">
                <a:effectLst/>
                <a:latin typeface="system-ui"/>
              </a:rPr>
              <a:t>Kfc</a:t>
            </a:r>
            <a:endParaRPr lang="en-IN" sz="2000" b="0" i="0" dirty="0">
              <a:effectLst/>
              <a:latin typeface="system-ui"/>
            </a:endParaRPr>
          </a:p>
          <a:p>
            <a:pPr marL="342900" indent="-342900" algn="l">
              <a:spcBef>
                <a:spcPts val="1512"/>
              </a:spcBef>
              <a:spcAft>
                <a:spcPts val="1008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system-ui"/>
              </a:rPr>
              <a:t>Bottom 10 restaurants having lowest rating: </a:t>
            </a:r>
          </a:p>
          <a:p>
            <a:pPr algn="l">
              <a:spcBef>
                <a:spcPts val="1512"/>
              </a:spcBef>
              <a:spcAft>
                <a:spcPts val="1008"/>
              </a:spcAft>
            </a:pPr>
            <a:r>
              <a:rPr lang="en-IN" sz="2000" b="0" i="0" dirty="0">
                <a:effectLst/>
                <a:latin typeface="system-ui"/>
              </a:rPr>
              <a:t>       Maggi Bowl &gt; Jannath Chicken &gt; Urban Foods </a:t>
            </a:r>
            <a:r>
              <a:rPr lang="en-IN" sz="2000" b="0" i="0" dirty="0" err="1">
                <a:effectLst/>
                <a:latin typeface="system-ui"/>
              </a:rPr>
              <a:t>Ambawadi</a:t>
            </a:r>
            <a:r>
              <a:rPr lang="en-IN" sz="2000" b="0" i="0" dirty="0">
                <a:effectLst/>
                <a:latin typeface="system-ui"/>
              </a:rPr>
              <a:t> &gt; Down Town House &gt; Cia Chinese</a:t>
            </a:r>
          </a:p>
          <a:p>
            <a:pPr marL="342900" indent="-342900" algn="l">
              <a:spcBef>
                <a:spcPts val="1512"/>
              </a:spcBef>
              <a:spcAft>
                <a:spcPts val="1008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system-ui"/>
              </a:rPr>
              <a:t>Top 5 Areas having highest rating: </a:t>
            </a:r>
          </a:p>
          <a:p>
            <a:pPr algn="l">
              <a:spcBef>
                <a:spcPts val="1512"/>
              </a:spcBef>
              <a:spcAft>
                <a:spcPts val="1008"/>
              </a:spcAft>
            </a:pPr>
            <a:r>
              <a:rPr lang="en-IN" sz="2000" dirty="0">
                <a:latin typeface="system-ui"/>
              </a:rPr>
              <a:t>       </a:t>
            </a:r>
            <a:r>
              <a:rPr lang="en-IN" sz="2000" b="0" i="0" dirty="0">
                <a:effectLst/>
                <a:latin typeface="system-ui"/>
              </a:rPr>
              <a:t>Girish Park &gt; Vardhman Premium Mall &gt; </a:t>
            </a:r>
            <a:r>
              <a:rPr lang="en-IN" sz="2000" b="0" i="0" dirty="0" err="1">
                <a:effectLst/>
                <a:latin typeface="system-ui"/>
              </a:rPr>
              <a:t>Ekdalia</a:t>
            </a:r>
            <a:r>
              <a:rPr lang="en-IN" sz="2000" b="0" i="0" dirty="0">
                <a:effectLst/>
                <a:latin typeface="system-ui"/>
              </a:rPr>
              <a:t> &gt; Santacruz Bandra East &gt; Wallace Garden</a:t>
            </a:r>
          </a:p>
          <a:p>
            <a:pPr marL="342900" indent="-342900" algn="l">
              <a:spcBef>
                <a:spcPts val="1512"/>
              </a:spcBef>
              <a:spcAft>
                <a:spcPts val="1008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system-ui"/>
              </a:rPr>
              <a:t>Top 5 Areas having lowest rating: </a:t>
            </a:r>
          </a:p>
          <a:p>
            <a:pPr algn="l">
              <a:spcBef>
                <a:spcPts val="1512"/>
              </a:spcBef>
              <a:spcAft>
                <a:spcPts val="1008"/>
              </a:spcAft>
            </a:pPr>
            <a:r>
              <a:rPr lang="en-IN" sz="2000" b="0" i="0" dirty="0">
                <a:effectLst/>
                <a:latin typeface="system-ui"/>
              </a:rPr>
              <a:t>       Kausar Baugh </a:t>
            </a:r>
            <a:r>
              <a:rPr lang="en-IN" sz="2000" b="0" i="0" dirty="0" err="1">
                <a:effectLst/>
                <a:latin typeface="system-ui"/>
              </a:rPr>
              <a:t>Nibm</a:t>
            </a:r>
            <a:r>
              <a:rPr lang="en-IN" sz="2000" b="0" i="0" dirty="0">
                <a:effectLst/>
                <a:latin typeface="system-ui"/>
              </a:rPr>
              <a:t> Road &gt; Punjab Bagh &gt; </a:t>
            </a:r>
            <a:r>
              <a:rPr lang="en-IN" sz="2000" b="0" i="0" dirty="0" err="1">
                <a:effectLst/>
                <a:latin typeface="system-ui"/>
              </a:rPr>
              <a:t>Shakurpur</a:t>
            </a:r>
            <a:r>
              <a:rPr lang="en-IN" sz="2000" b="0" i="0" dirty="0">
                <a:effectLst/>
                <a:latin typeface="system-ui"/>
              </a:rPr>
              <a:t> &gt; </a:t>
            </a:r>
            <a:r>
              <a:rPr lang="en-IN" sz="2000" b="0" i="0" dirty="0" err="1">
                <a:effectLst/>
                <a:latin typeface="system-ui"/>
              </a:rPr>
              <a:t>Dapodi</a:t>
            </a:r>
            <a:r>
              <a:rPr lang="en-IN" sz="2000" b="0" i="0" dirty="0">
                <a:effectLst/>
                <a:latin typeface="system-ui"/>
              </a:rPr>
              <a:t> &gt; </a:t>
            </a:r>
            <a:r>
              <a:rPr lang="en-IN" sz="2000" b="0" i="0" dirty="0" err="1">
                <a:effectLst/>
                <a:latin typeface="system-ui"/>
              </a:rPr>
              <a:t>Dhanakawadi</a:t>
            </a:r>
            <a:endParaRPr lang="en-IN" sz="2000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411039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8A732B-B2C4-A700-D2F4-F65910853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229" y="381001"/>
            <a:ext cx="10787742" cy="6226628"/>
          </a:xfrm>
        </p:spPr>
        <p:txBody>
          <a:bodyPr>
            <a:normAutofit/>
          </a:bodyPr>
          <a:lstStyle/>
          <a:p>
            <a:pPr marL="342900" indent="-342900" algn="l">
              <a:spcBef>
                <a:spcPts val="1512"/>
              </a:spcBef>
              <a:spcAft>
                <a:spcPts val="1008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ystem-ui"/>
              </a:rPr>
              <a:t>Most frequent ordered prices are 300 and 200.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system-ui"/>
              </a:rPr>
              <a:t>Indian Food Type was ordered most followed by Chinese having significant difference. Lease ordered Food Type is beverages. Top 5 are Indian &gt; Chinese &gt; North Indian &gt; Fast Food &gt; South Indian</a:t>
            </a:r>
          </a:p>
          <a:p>
            <a:pPr marL="342900" indent="-342900" algn="l">
              <a:spcBef>
                <a:spcPts val="1512"/>
              </a:spcBef>
              <a:spcAft>
                <a:spcPts val="1008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system-ui"/>
              </a:rPr>
              <a:t>Average delivery time is 53.96 min</a:t>
            </a:r>
          </a:p>
          <a:p>
            <a:pPr marL="342900" indent="-342900" algn="l">
              <a:spcBef>
                <a:spcPts val="1260"/>
              </a:spcBef>
              <a:spcAft>
                <a:spcPts val="84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system-ui"/>
              </a:rPr>
              <a:t>Avg ratings: 3.5 to 4.5</a:t>
            </a:r>
          </a:p>
          <a:p>
            <a:pPr marL="342900" indent="-342900" algn="l">
              <a:spcBef>
                <a:spcPts val="1260"/>
              </a:spcBef>
              <a:spcAft>
                <a:spcPts val="84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system-ui"/>
              </a:rPr>
              <a:t>Most deliveries happen in 35–60 minutes</a:t>
            </a:r>
          </a:p>
          <a:p>
            <a:pPr marL="342900" indent="-342900" algn="l">
              <a:spcBef>
                <a:spcPts val="1260"/>
              </a:spcBef>
              <a:spcAft>
                <a:spcPts val="84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system-ui"/>
              </a:rPr>
              <a:t>Regression Plot</a:t>
            </a:r>
            <a:r>
              <a:rPr lang="en-US" sz="2000" dirty="0">
                <a:latin typeface="system-ui"/>
              </a:rPr>
              <a:t>: Slight positive trend — higher price may slightly relate to higher rating, but with high variability</a:t>
            </a:r>
          </a:p>
          <a:p>
            <a:pPr marL="342900" indent="-342900" algn="l">
              <a:spcBef>
                <a:spcPts val="1260"/>
              </a:spcBef>
              <a:spcAft>
                <a:spcPts val="84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system-ui"/>
              </a:rPr>
              <a:t>KDE Plots</a:t>
            </a:r>
            <a:r>
              <a:rPr lang="en-US" sz="2000" dirty="0">
                <a:latin typeface="system-ui"/>
              </a:rPr>
              <a:t>: Suggest two delivery patterns — quick-service and full-service</a:t>
            </a:r>
          </a:p>
          <a:p>
            <a:pPr marL="342900" indent="-342900" algn="l">
              <a:spcBef>
                <a:spcPts val="1260"/>
              </a:spcBef>
              <a:spcAft>
                <a:spcPts val="84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system-ui"/>
              </a:rPr>
              <a:t>Mumbai &amp; Hyderabad Fastest &amp; most consistent</a:t>
            </a:r>
          </a:p>
          <a:p>
            <a:pPr marL="342900" indent="-342900" algn="l">
              <a:spcBef>
                <a:spcPts val="1512"/>
              </a:spcBef>
              <a:spcAft>
                <a:spcPts val="1008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system-ui"/>
              </a:rPr>
              <a:t>Kolkata Longest delivery tails</a:t>
            </a:r>
          </a:p>
          <a:p>
            <a:pPr marL="342900" indent="-342900" algn="l">
              <a:spcBef>
                <a:spcPts val="1512"/>
              </a:spcBef>
              <a:spcAft>
                <a:spcPts val="50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system-ui"/>
              </a:rPr>
              <a:t>Surat &amp; Ahmedabad Tend to deliver faster</a:t>
            </a:r>
          </a:p>
          <a:p>
            <a:pPr marL="342900" indent="-342900" algn="l">
              <a:spcBef>
                <a:spcPts val="1260"/>
              </a:spcBef>
              <a:spcAft>
                <a:spcPts val="840"/>
              </a:spcAft>
              <a:buFont typeface="Arial" panose="020B0604020202020204" pitchFamily="34" charset="0"/>
              <a:buChar char="•"/>
            </a:pPr>
            <a:endParaRPr lang="en-US" sz="2800" b="0" i="0" dirty="0">
              <a:effectLst/>
              <a:latin typeface="system-ui"/>
            </a:endParaRPr>
          </a:p>
          <a:p>
            <a:pPr marL="342900" indent="-342900" algn="l">
              <a:spcBef>
                <a:spcPts val="1260"/>
              </a:spcBef>
              <a:spcAft>
                <a:spcPts val="84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system-u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557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629</Words>
  <Application>Microsoft Office PowerPoint</Application>
  <PresentationFormat>Widescreen</PresentationFormat>
  <Paragraphs>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menlo</vt:lpstr>
      <vt:lpstr>system-ui</vt:lpstr>
      <vt:lpstr>Office Theme</vt:lpstr>
      <vt:lpstr>PowerPoint Presentation</vt:lpstr>
      <vt:lpstr>📌 Overview </vt:lpstr>
      <vt:lpstr>🔍 Key Objectives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 Priya</dc:creator>
  <cp:lastModifiedBy>Mani Priya</cp:lastModifiedBy>
  <cp:revision>2</cp:revision>
  <dcterms:created xsi:type="dcterms:W3CDTF">2025-05-02T09:08:36Z</dcterms:created>
  <dcterms:modified xsi:type="dcterms:W3CDTF">2025-05-02T10:00:40Z</dcterms:modified>
</cp:coreProperties>
</file>